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[발표자 메모 - 표지]</a:t>
            </a:r>
          </a:p>
          <a:p/>
          <a:p>
            <a:r>
              <a:t>안녕하십니까, 수료 발표를 맡은 [발표자]입니다.</a:t>
            </a:r>
          </a:p>
          <a:p>
            <a:r>
              <a:t>오늘 소개해 드릴 프로젝트는 5인 파트너 연차 관리와 소멸 일정을 한눈에 해결하는 웹 도구, 「연차 신청함」입니다.</a:t>
            </a:r>
          </a:p>
          <a:p>
            <a:r>
              <a:t>근로기준법상 1년 내 미사용 시 소멸되는 연차 규정과, 입사 첫 해 월차 및 2년 차 이후 회계연도 기준(매년 1월 1일) 산정 방식을 웹 화면 하나로 간편하게 확인하고 관리할 수 있도록 구현했습니다.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[발표자 메모 - 「내 문제」]</a:t>
            </a:r>
          </a:p>
          <a:p/>
          <a:p>
            <a:r>
              <a:t>제가 이번 프로젝트를 시작하게 된 '내 문제'는 다음과 같습니다.</a:t>
            </a:r>
          </a:p>
          <a:p/>
          <a:p>
            <a:r>
              <a:t>첫째, [5명]: 소규모 매장에서 5명 파트너 각자의 입사일과 근속 기간이 제각각이어서 개별 연차를 수기로 기억하고 추적하기 어려웠습니다.</a:t>
            </a:r>
          </a:p>
          <a:p/>
          <a:p>
            <a:r>
              <a:t>둘째, [1년]: 근로기준법상 연차는 1년 안에 사용하지 않으면 소멸됩니다. 회계연도 기준에 따라 매년 12월 31일 자정에 소멸되는 일정과 파트너별 잔여 연차, 소멸 D-Day를 수기로 계산하다 보면 누락이나 정산 분쟁의 위험이 있었습니다.</a:t>
            </a:r>
          </a:p>
          <a:p/>
          <a:p>
            <a:r>
              <a:t>셋째, [11~25일]: 입사 첫 해에는 1개월 개근 시 1일씩 최대 11일 월차가 발생하고, 2년 차에는 전년도 365일 재직일수 비례 연차, 3년 차 이후에는 15일 일괄 부여 및 2년마다 1일 가산(최대 25일)되는 등 복잡한 산정 공식 때문에 누구나 쉽게 보고 납득할 수 있는 투명한 도구가 절실했습니다.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[발표자 메모 - 과정에서 배운 것]</a:t>
            </a:r>
          </a:p>
          <a:p/>
          <a:p>
            <a:r>
              <a:t>프로젝트를 진행하며 크게 세 가지를 배웠습니다.</a:t>
            </a:r>
          </a:p>
          <a:p/>
          <a:p>
            <a:r>
              <a:t>첫째, 복잡한 근로기준법 회계연도 기준 공식을 체계화했습니다. 입사 첫 해 월차 최대 11일부터, 2년 차의 365일 재직일수 비례 연차, 3년 차 이후 2년마다 1일씩 늘어나는 가산 연차와 12월 31일 자정 소멸 원칙을 정확한 로직으로 정립했습니다.</a:t>
            </a:r>
          </a:p>
          <a:p/>
          <a:p>
            <a:r>
              <a:t>둘째, 별도의 서버나 데이터베이스 설치 없이도 브라우저 로컬 스토리지를 활용하여 지점명과 5인 파트너의 데이터를 영구적으로 보존하고 복원하는 상태 관리 방식을 익혔습니다.</a:t>
            </a:r>
          </a:p>
          <a:p/>
          <a:p>
            <a:r>
              <a:t>셋째, 디자인 가이드라인에 맞춘 토큰화 시스템과 외부 패키지 설치 없는 Node.js 내장 모듈 기반 경량 웹 서버 구동 방식을 배웠습니다.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[발표자 메모 - 만든 기능]</a:t>
            </a:r>
          </a:p>
          <a:p/>
          <a:p>
            <a:r>
              <a:t>핵심 기능들을 웹 화면 하나에 집약하여 구현했습니다.</a:t>
            </a:r>
          </a:p>
          <a:p/>
          <a:p>
            <a:r>
              <a:t>첫째, 상단 점선 상자를 클릭해 매장 지점명을 즉시 바꾸면 타이틀과 요약표에 실시간 반영되고 브라우저에 저장됩니다.</a:t>
            </a:r>
          </a:p>
          <a:p/>
          <a:p>
            <a:r>
              <a:t>둘째, 5명 파트너 탭을 누르면 근속 기간과 해당 주기의 발생·사용·잔여 연차, 12월 31일 소멸 D-Day가 한눈에 나타나며, 테이블에서 사용 일수를 입력하면 즉시 잔여분이 재계산됩니다.</a:t>
            </a:r>
          </a:p>
          <a:p/>
          <a:p>
            <a:r>
              <a:t>셋째, 5인 전체 요약 탭을 통해 전 직원의 현황을 일괄 대조할 수 있고, 법령 가이드 콜아웃과 원클릭 인쇄 기능까지 지원합니다.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[발표자 메모 - 내가 더한 것]</a:t>
            </a:r>
          </a:p>
          <a:p/>
          <a:p>
            <a:r>
              <a:t>단순한 1인용 연차 계산 공식을 넘어 현장 실무에 꼭 필요한 요소들을 제가 직접 더했습니다.</a:t>
            </a:r>
          </a:p>
          <a:p/>
          <a:p>
            <a:r>
              <a:t>첫째, 특정 매장에 종속되지 않도록 지점명을 직접 입력하여 저장하는 인터랙션을 추가했습니다.</a:t>
            </a:r>
          </a:p>
          <a:p/>
          <a:p>
            <a:r>
              <a:t>둘째, 5명의 개별 탭 외에 관리자가 전원의 연차 현황을 한눈에 비교할 수 있는 5인 통합 종합 요약표 뷰를 설계했습니다.</a:t>
            </a:r>
          </a:p>
          <a:p/>
          <a:p>
            <a:r>
              <a:t>셋째, 연차가 12월 31일에 소멸된다는 점을 직관적으로 인지할 수 있도록 D-Day 카운트다운 뱃지와 차기 연도 1월 1일 일괄 부여 예정 바를 배치해 실무 편의성을 높였습니다.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[발표자 메모 - AI를 믿지 않은 대목]</a:t>
            </a:r>
          </a:p>
          <a:p/>
          <a:p>
            <a:r>
              <a:t>AI가 생성한 코드에 의존하지 않고 법적·수치적 정확성을 직접 확인한 부분들입니다.</a:t>
            </a:r>
          </a:p>
          <a:p/>
          <a:p>
            <a:r>
              <a:t>첫째, 입사 2년 차 비례 연차 산출 시 윤년인 해(366일)와 평년(365일)의 일수 차이 및 재직일수 산정 기준이 노동부 행정해석과 일치하는지 수식을 직접 대조했습니다.</a:t>
            </a:r>
          </a:p>
          <a:p/>
          <a:p>
            <a:r>
              <a:t>둘째, 31일 등 월말에 입사한 직원의 경우 다음 달 일자 보정 시 말일 예외 처리가 올바르게 작동하는지 날짜 연산 함수를 검증했습니다.</a:t>
            </a:r>
          </a:p>
          <a:p/>
          <a:p>
            <a:r>
              <a:t>셋째, 연차가 12월 31일 자정에 만료될 때 지난 연도의 미사용 연차가 다음 연도 잔여분에 잘못 합산되지 않고 정확히 독립 마감되는지 분기 로직을 꼼꼼히 확인했습니다.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[발표자 메모 - 효과]</a:t>
            </a:r>
          </a:p>
          <a:p/>
          <a:p>
            <a:r>
              <a:t>프로젝트를 통해 거둔 효과는 다음과 같습니다.</a:t>
            </a:r>
          </a:p>
          <a:p/>
          <a:p>
            <a:r>
              <a:t>첫째, 5명 파트너 전원의 잔여 연차와 12월 31일 소멸 D-Day가 한 화면에 일목요연하게 표시되어 즉각적인 현황 파악이 가능해졌습니다.</a:t>
            </a:r>
          </a:p>
          <a:p/>
          <a:p>
            <a:r>
              <a:t>둘째, 단일 HTML 파일과 가벼운 Node.js 스크립트로 동작하므로 고가의 유료 근태 소프트웨어를 구독하거나 복잡한 시스템을 설치할 필요 없이 비용 제로로 즉시 도입할 수 있습니다.</a:t>
            </a:r>
          </a:p>
          <a:p/>
          <a:p>
            <a:r>
              <a:t>셋째, 실제 현장 적용을 통한 정량적 시간 절감률이나 오류 방지 수치는 사내 실무 적용 후 직접 채워나갈 예정입니다.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[발표자 메모 - 다음 계획]</a:t>
            </a:r>
          </a:p>
          <a:p/>
          <a:p>
            <a:r>
              <a:t>앞으로의 고도화 계획입니다.</a:t>
            </a:r>
          </a:p>
          <a:p/>
          <a:p>
            <a:r>
              <a:t>첫째, 아직 현장에 본격 배포하여 써 보지 않은 상태이므로, 실제 사내 파트너들의 사용 피드백을 수집하여 사용성을 개선해 나갈 예정입니다.</a:t>
            </a:r>
          </a:p>
          <a:p/>
          <a:p>
            <a:r>
              <a:t>둘째, 모바일 환경에서도 5인 탭과 표를 쾌적하게 조회할 수 있도록 반응형 UI를 고도화할 계획입니다.</a:t>
            </a:r>
          </a:p>
          <a:p/>
          <a:p>
            <a:r>
              <a:t>셋째, 연차 신청 및 승인·반려 결재선 백엔드 연동과 연차 내역 엑셀 내보내기, 시간 단위 연차 지원 기능을 순차적으로 개발할 예정입니다.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840480"/>
            <a:ext cx="2011680" cy="109728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맑은 고딕"/>
              </a:rPr>
              <a:t>5인 파트너 연차 관리 도구, 「연차 신청함」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DDEEE6"/>
                </a:solidFill>
                <a:latin typeface="맑은 고딕"/>
              </a:rPr>
              <a:t>회계연도 기준 산정과 1년 단위 소멸 관리
수료 발표 · 발표자: (직접 채우기) · 2026. 10.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DDEEE6"/>
                </a:solidFill>
                <a:latin typeface="맑은 고딕"/>
              </a:rPr>
              <a:t>사내 파트너 연차 계산기 프로젝트 · 연차 신청함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241280" y="301752"/>
            <a:ext cx="1234440" cy="438912"/>
          </a:xfrm>
          <a:prstGeom prst="round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연차 신청함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4088" y="347472"/>
            <a:ext cx="9326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7A5A"/>
                </a:solidFill>
                <a:latin typeface="맑은 고딕"/>
              </a:rPr>
              <a:t>복잡한 1년 소멸 연차, 수기 관리에는 한계가 있었습니다.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170432"/>
            <a:ext cx="10789920" cy="43891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630936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9999"/>
                </a:solidFill>
                <a:latin typeface="맑은 고딕"/>
              </a:rPr>
              <a:t>연차 신청함 · 수료 발표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444752"/>
            <a:ext cx="3474720" cy="4663440"/>
          </a:xfrm>
          <a:prstGeom prst="roundRect">
            <a:avLst/>
          </a:prstGeom>
          <a:solidFill>
            <a:srgbClr val="EEF6F2"/>
          </a:solidFill>
          <a:ln w="19050">
            <a:solidFill>
              <a:srgbClr val="D5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365760" bIns="274320"/>
          <a:lstStyle/>
          <a:p>
            <a:pPr algn="ctr">
              <a:spcAft>
                <a:spcPts val="1200"/>
              </a:spcAft>
            </a:pPr>
            <a:r>
              <a:rPr sz="5200" b="1">
                <a:solidFill>
                  <a:srgbClr val="F28C28"/>
                </a:solidFill>
                <a:latin typeface="맑은 고딕"/>
              </a:rPr>
              <a:t>5명</a:t>
            </a:r>
          </a:p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1F7A5A"/>
                </a:solidFill>
                <a:latin typeface="맑은 고딕"/>
              </a:rPr>
              <a:t>관리 대상 파트너</a:t>
            </a:r>
          </a:p>
          <a:p>
            <a:pPr algn="ctr"/>
            <a:r>
              <a:rPr sz="1550" b="0">
                <a:solidFill>
                  <a:srgbClr val="222B33"/>
                </a:solidFill>
                <a:latin typeface="맑은 고딕"/>
              </a:rPr>
              <a:t>입사일과 근속 기간이 제각각인
소규모 매장 환경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44752"/>
            <a:ext cx="3474720" cy="4663440"/>
          </a:xfrm>
          <a:prstGeom prst="roundRect">
            <a:avLst/>
          </a:prstGeom>
          <a:solidFill>
            <a:srgbClr val="EEF6F2"/>
          </a:solidFill>
          <a:ln w="19050">
            <a:solidFill>
              <a:srgbClr val="D5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365760" bIns="274320"/>
          <a:lstStyle/>
          <a:p>
            <a:pPr algn="ctr">
              <a:spcAft>
                <a:spcPts val="1200"/>
              </a:spcAft>
            </a:pPr>
            <a:r>
              <a:rPr sz="5200" b="1">
                <a:solidFill>
                  <a:srgbClr val="F28C28"/>
                </a:solidFill>
                <a:latin typeface="맑은 고딕"/>
              </a:rPr>
              <a:t>1년</a:t>
            </a:r>
          </a:p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1F7A5A"/>
                </a:solidFill>
                <a:latin typeface="맑은 고딕"/>
              </a:rPr>
              <a:t>소멸 유효 기간</a:t>
            </a:r>
          </a:p>
          <a:p>
            <a:pPr algn="ctr"/>
            <a:r>
              <a:rPr sz="1550" b="0">
                <a:solidFill>
                  <a:srgbClr val="222B33"/>
                </a:solidFill>
                <a:latin typeface="맑은 고딕"/>
              </a:rPr>
              <a:t>12월 31일 자정에 일괄 소멸되어
상시 추적 필수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82712" y="1444752"/>
            <a:ext cx="3474720" cy="4663440"/>
          </a:xfrm>
          <a:prstGeom prst="roundRect">
            <a:avLst/>
          </a:prstGeom>
          <a:solidFill>
            <a:srgbClr val="EEF6F2"/>
          </a:solidFill>
          <a:ln w="19050">
            <a:solidFill>
              <a:srgbClr val="D5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365760" bIns="274320"/>
          <a:lstStyle/>
          <a:p>
            <a:pPr algn="ctr">
              <a:spcAft>
                <a:spcPts val="1200"/>
              </a:spcAft>
            </a:pPr>
            <a:r>
              <a:rPr sz="4400" b="1">
                <a:solidFill>
                  <a:srgbClr val="F28C28"/>
                </a:solidFill>
                <a:latin typeface="맑은 고딕"/>
              </a:rPr>
              <a:t>11~25일</a:t>
            </a:r>
          </a:p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1F7A5A"/>
                </a:solidFill>
                <a:latin typeface="맑은 고딕"/>
              </a:rPr>
              <a:t>복잡한 산정 공식</a:t>
            </a:r>
          </a:p>
          <a:p>
            <a:pPr algn="ctr"/>
            <a:r>
              <a:rPr sz="1550" b="0">
                <a:solidFill>
                  <a:srgbClr val="222B33"/>
                </a:solidFill>
                <a:latin typeface="맑은 고딕"/>
              </a:rPr>
              <a:t>첫 해 월차, 365일 비례, 가산 등
수기 계산 오류 위험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241280" y="301752"/>
            <a:ext cx="1234440" cy="438912"/>
          </a:xfrm>
          <a:prstGeom prst="round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연차 신청함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4088" y="347472"/>
            <a:ext cx="9326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7A5A"/>
                </a:solidFill>
                <a:latin typeface="맑은 고딕"/>
              </a:rPr>
              <a:t>회계연도 법령 공식과 로컬 데이터 저장 원리를 배웠습니다.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170432"/>
            <a:ext cx="10789920" cy="43891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630936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9999"/>
                </a:solidFill>
                <a:latin typeface="맑은 고딕"/>
              </a:rPr>
              <a:t>연차 신청함 · 수료 발표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444752"/>
            <a:ext cx="3474720" cy="4663440"/>
          </a:xfrm>
          <a:prstGeom prst="roundRect">
            <a:avLst/>
          </a:prstGeom>
          <a:solidFill>
            <a:srgbClr val="EEF6F2"/>
          </a:solidFill>
          <a:ln w="19050">
            <a:solidFill>
              <a:srgbClr val="D5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365760" bIns="274320"/>
          <a:lstStyle/>
          <a:p>
            <a:pPr algn="ctr">
              <a:spcAft>
                <a:spcPts val="1200"/>
              </a:spcAft>
            </a:pPr>
            <a:r>
              <a:rPr sz="4400" b="1">
                <a:solidFill>
                  <a:srgbClr val="F28C28"/>
                </a:solidFill>
                <a:latin typeface="맑은 고딕"/>
              </a:rPr>
              <a:t>01</a:t>
            </a:r>
          </a:p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1F7A5A"/>
                </a:solidFill>
                <a:latin typeface="맑은 고딕"/>
              </a:rPr>
              <a:t>회계연도 법령 공식</a:t>
            </a:r>
          </a:p>
          <a:p>
            <a:pPr algn="ctr"/>
            <a:r>
              <a:rPr sz="1550" b="0">
                <a:solidFill>
                  <a:srgbClr val="222B33"/>
                </a:solidFill>
                <a:latin typeface="맑은 고딕"/>
              </a:rPr>
              <a:t>첫 해 월차(최대 11일) →
2년 차 비례(365일) → 근속 가산(최대 25일)
및 12월 31일 소멸 로직 체계화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44752"/>
            <a:ext cx="3474720" cy="4663440"/>
          </a:xfrm>
          <a:prstGeom prst="roundRect">
            <a:avLst/>
          </a:prstGeom>
          <a:solidFill>
            <a:srgbClr val="EEF6F2"/>
          </a:solidFill>
          <a:ln w="19050">
            <a:solidFill>
              <a:srgbClr val="D5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365760" bIns="274320"/>
          <a:lstStyle/>
          <a:p>
            <a:pPr algn="ctr">
              <a:spcAft>
                <a:spcPts val="1200"/>
              </a:spcAft>
            </a:pPr>
            <a:r>
              <a:rPr sz="4400" b="1">
                <a:solidFill>
                  <a:srgbClr val="F28C28"/>
                </a:solidFill>
                <a:latin typeface="맑은 고딕"/>
              </a:rPr>
              <a:t>02</a:t>
            </a:r>
          </a:p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1F7A5A"/>
                </a:solidFill>
                <a:latin typeface="맑은 고딕"/>
              </a:rPr>
              <a:t>브라우저 영속화</a:t>
            </a:r>
          </a:p>
          <a:p>
            <a:pPr algn="ctr"/>
            <a:r>
              <a:rPr sz="1550" b="0">
                <a:solidFill>
                  <a:srgbClr val="222B33"/>
                </a:solidFill>
                <a:latin typeface="맑은 고딕"/>
              </a:rPr>
              <a:t>외부 DB 없이 로컬 스토리지
(localStorage)만으로
지점명과 5인 데이터 영구 보존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82712" y="1444752"/>
            <a:ext cx="3474720" cy="4663440"/>
          </a:xfrm>
          <a:prstGeom prst="roundRect">
            <a:avLst/>
          </a:prstGeom>
          <a:solidFill>
            <a:srgbClr val="EEF6F2"/>
          </a:solidFill>
          <a:ln w="19050">
            <a:solidFill>
              <a:srgbClr val="D5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365760" bIns="274320"/>
          <a:lstStyle/>
          <a:p>
            <a:pPr algn="ctr">
              <a:spcAft>
                <a:spcPts val="1200"/>
              </a:spcAft>
            </a:pPr>
            <a:r>
              <a:rPr sz="4400" b="1">
                <a:solidFill>
                  <a:srgbClr val="F28C28"/>
                </a:solidFill>
                <a:latin typeface="맑은 고딕"/>
              </a:rPr>
              <a:t>03</a:t>
            </a:r>
          </a:p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1F7A5A"/>
                </a:solidFill>
                <a:latin typeface="맑은 고딕"/>
              </a:rPr>
              <a:t>시스템 디자인 &amp; 서빙</a:t>
            </a:r>
          </a:p>
          <a:p>
            <a:pPr algn="ctr"/>
            <a:r>
              <a:rPr sz="1550" b="0">
                <a:solidFill>
                  <a:srgbClr val="222B33"/>
                </a:solidFill>
                <a:latin typeface="맑은 고딕"/>
              </a:rPr>
              <a:t>DESIGN.md 기반 디자인 토큰
(종이 질감 캔버스, 헤어라인 테두리)과
Node.js 경량 웹 서빙 습득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241280" y="301752"/>
            <a:ext cx="1234440" cy="438912"/>
          </a:xfrm>
          <a:prstGeom prst="round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연차 신청함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4088" y="347472"/>
            <a:ext cx="9326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7A5A"/>
                </a:solidFill>
                <a:latin typeface="맑은 고딕"/>
              </a:rPr>
              <a:t>5인 연차 계산과 소멸 D-Day를 웹 화면 하나에 담았습니다.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170432"/>
            <a:ext cx="10789920" cy="43891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630936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9999"/>
                </a:solidFill>
                <a:latin typeface="맑은 고딕"/>
              </a:rPr>
              <a:t>연차 신청함 · 수료 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444752"/>
            <a:ext cx="6035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sz="1900" b="1">
                <a:solidFill>
                  <a:srgbClr val="1F7A5A"/>
                </a:solidFill>
                <a:latin typeface="맑은 고딕"/>
              </a:rPr>
              <a:t>1. 지점명 실시간 직접 편집
</a:t>
            </a:r>
            <a:r>
              <a:rPr sz="1550" b="0">
                <a:solidFill>
                  <a:srgbClr val="222B33"/>
                </a:solidFill>
                <a:latin typeface="맑은 고딕"/>
              </a:rPr>
              <a:t>상단 점선 인풋을 클릭해 매장명을 즉시 수정하고 타이틀·요약표에 자동 저장 연동</a:t>
            </a:r>
          </a:p>
          <a:p>
            <a:pPr>
              <a:spcAft>
                <a:spcPts val="2400"/>
              </a:spcAft>
            </a:pPr>
            <a:r>
              <a:rPr sz="1900" b="1">
                <a:solidFill>
                  <a:srgbClr val="1F7A5A"/>
                </a:solidFill>
                <a:latin typeface="맑은 고딕"/>
              </a:rPr>
              <a:t>2. 5인 토글 탭 &amp; 연차 기록표
</a:t>
            </a:r>
            <a:r>
              <a:rPr sz="1550" b="0">
                <a:solidFill>
                  <a:srgbClr val="222B33"/>
                </a:solidFill>
                <a:latin typeface="맑은 고딕"/>
              </a:rPr>
              <a:t>파트너별 근속 기간 자동 계산, 사용 일수 직접 입력 시 실시간 잔여 연차 자동 재계산</a:t>
            </a:r>
          </a:p>
          <a:p>
            <a:pPr>
              <a:spcAft>
                <a:spcPts val="2400"/>
              </a:spcAft>
            </a:pPr>
            <a:r>
              <a:rPr sz="1900" b="1">
                <a:solidFill>
                  <a:srgbClr val="1F7A5A"/>
                </a:solidFill>
                <a:latin typeface="맑은 고딕"/>
              </a:rPr>
              <a:t>3. 5인 통합 종합 요약표 &amp; 인쇄
</a:t>
            </a:r>
            <a:r>
              <a:rPr sz="1550" b="0">
                <a:solidFill>
                  <a:srgbClr val="222B33"/>
                </a:solidFill>
                <a:latin typeface="맑은 고딕"/>
              </a:rPr>
              <a:t>전원 잔여 연차와 12월 31일 소멸 D-Day 일괄 대조 및 깔끔한 원클릭 인쇄 모드 제공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444752"/>
            <a:ext cx="4544568" cy="4663440"/>
          </a:xfrm>
          <a:prstGeom prst="roundRect">
            <a:avLst/>
          </a:prstGeom>
          <a:solidFill>
            <a:srgbClr val="EEF6F2"/>
          </a:solidFill>
          <a:ln w="19050">
            <a:solidFill>
              <a:srgbClr val="1F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0"/>
              </a:spcBef>
              <a:spcAft>
                <a:spcPts val="1400"/>
              </a:spcAft>
            </a:pPr>
            <a:r>
              <a:rPr sz="1800" b="1">
                <a:solidFill>
                  <a:srgbClr val="1F7A5A"/>
                </a:solidFill>
                <a:latin typeface="맑은 고딕"/>
              </a:rPr>
              <a:t>📷 화면 캡처 영역
[캡처: 5인 통합 현황표 및 대시보드 화면]</a:t>
            </a:r>
          </a:p>
          <a:p>
            <a:pPr algn="ctr"/>
            <a:r>
              <a:rPr sz="1400" b="0">
                <a:solidFill>
                  <a:srgbClr val="667777"/>
                </a:solidFill>
                <a:latin typeface="맑은 고딕"/>
              </a:rPr>
              <a:t>(발표 시 실제 웹 화면 캡처 이미지를
이 자리에 얹어주세요)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241280" y="301752"/>
            <a:ext cx="1234440" cy="438912"/>
          </a:xfrm>
          <a:prstGeom prst="round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연차 신청함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4088" y="347472"/>
            <a:ext cx="9326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7A5A"/>
                </a:solidFill>
                <a:latin typeface="맑은 고딕"/>
              </a:rPr>
              <a:t>지점명 편집과 5인 종합 요약표, 소멸 D-Day를 더했습니다.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170432"/>
            <a:ext cx="10789920" cy="43891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630936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9999"/>
                </a:solidFill>
                <a:latin typeface="맑은 고딕"/>
              </a:rPr>
              <a:t>연차 신청함 · 수료 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444752"/>
            <a:ext cx="6035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sz="1900" b="1">
                <a:solidFill>
                  <a:srgbClr val="1F7A5A"/>
                </a:solidFill>
                <a:latin typeface="맑은 고딕"/>
              </a:rPr>
              <a:t>1. 지점명 커스텀 입력 인터랙션
</a:t>
            </a:r>
            <a:r>
              <a:rPr sz="1550" b="0">
                <a:solidFill>
                  <a:srgbClr val="222B33"/>
                </a:solidFill>
                <a:latin typeface="맑은 고딕"/>
              </a:rPr>
              <a:t>특정 매장에 종속되지 않고 어느 지점에서나 직접 입력해 브라우저에 보관</a:t>
            </a:r>
          </a:p>
          <a:p>
            <a:pPr>
              <a:spcAft>
                <a:spcPts val="2400"/>
              </a:spcAft>
            </a:pPr>
            <a:r>
              <a:rPr sz="1900" b="1">
                <a:solidFill>
                  <a:srgbClr val="1F7A5A"/>
                </a:solidFill>
                <a:latin typeface="맑은 고딕"/>
              </a:rPr>
              <a:t>2. 5인 통합 대시보드 (6번째 탭)
</a:t>
            </a:r>
            <a:r>
              <a:rPr sz="1550" b="0">
                <a:solidFill>
                  <a:srgbClr val="222B33"/>
                </a:solidFill>
                <a:latin typeface="맑은 고딕"/>
              </a:rPr>
              <a:t>개별 관리 뷰 외에 관리자가 전원 연차·소멸일을 비교할 수 있는 종합표 독자 설계</a:t>
            </a:r>
          </a:p>
          <a:p>
            <a:pPr>
              <a:spcAft>
                <a:spcPts val="2400"/>
              </a:spcAft>
            </a:pPr>
            <a:r>
              <a:rPr sz="1900" b="1">
                <a:solidFill>
                  <a:srgbClr val="1F7A5A"/>
                </a:solidFill>
                <a:latin typeface="맑은 고딕"/>
              </a:rPr>
              <a:t>3. 12월 31일 소멸 D-Day &amp; 예정 바
</a:t>
            </a:r>
            <a:r>
              <a:rPr sz="1550" b="0">
                <a:solidFill>
                  <a:srgbClr val="222B33"/>
                </a:solidFill>
                <a:latin typeface="맑은 고딕"/>
              </a:rPr>
              <a:t>소멸 60일 전 경고 뱃지 및 차기 연도 1월 1일 일괄 부여 예정 일수 사전 안내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444752"/>
            <a:ext cx="4544568" cy="4663440"/>
          </a:xfrm>
          <a:prstGeom prst="roundRect">
            <a:avLst/>
          </a:prstGeom>
          <a:solidFill>
            <a:srgbClr val="EEF6F2"/>
          </a:solidFill>
          <a:ln w="19050">
            <a:solidFill>
              <a:srgbClr val="1F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0"/>
              </a:spcBef>
              <a:spcAft>
                <a:spcPts val="1400"/>
              </a:spcAft>
            </a:pPr>
            <a:r>
              <a:rPr sz="1800" b="1">
                <a:solidFill>
                  <a:srgbClr val="1F7A5A"/>
                </a:solidFill>
                <a:latin typeface="맑은 고딕"/>
              </a:rPr>
              <a:t>📷 화면 캡처 영역
[캡처: 지점명 수정 및 연차 주기 대시보드 화면]</a:t>
            </a:r>
          </a:p>
          <a:p>
            <a:pPr algn="ctr"/>
            <a:r>
              <a:rPr sz="1400" b="0">
                <a:solidFill>
                  <a:srgbClr val="667777"/>
                </a:solidFill>
                <a:latin typeface="맑은 고딕"/>
              </a:rPr>
              <a:t>(발표 시 실제 웹 화면 캡처 이미지를
이 자리에 얹어주세요)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241280" y="301752"/>
            <a:ext cx="1234440" cy="438912"/>
          </a:xfrm>
          <a:prstGeom prst="round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연차 신청함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4088" y="347472"/>
            <a:ext cx="9326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7A5A"/>
                </a:solidFill>
                <a:latin typeface="맑은 고딕"/>
              </a:rPr>
              <a:t>윤년 비례 공식과 월말 일자 보정 로직을 직접 검증했습니다.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170432"/>
            <a:ext cx="10789920" cy="43891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630936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9999"/>
                </a:solidFill>
                <a:latin typeface="맑은 고딕"/>
              </a:rPr>
              <a:t>연차 신청함 · 수료 발표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444752"/>
            <a:ext cx="3474720" cy="4663440"/>
          </a:xfrm>
          <a:prstGeom prst="roundRect">
            <a:avLst/>
          </a:prstGeom>
          <a:solidFill>
            <a:srgbClr val="EEF6F2"/>
          </a:solidFill>
          <a:ln w="19050">
            <a:solidFill>
              <a:srgbClr val="D5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365760" bIns="274320"/>
          <a:lstStyle/>
          <a:p>
            <a:pPr algn="ctr">
              <a:spcAft>
                <a:spcPts val="1200"/>
              </a:spcAft>
            </a:pPr>
            <a:r>
              <a:rPr sz="4400" b="1">
                <a:solidFill>
                  <a:srgbClr val="F28C28"/>
                </a:solidFill>
                <a:latin typeface="맑은 고딕"/>
              </a:rPr>
              <a:t>01</a:t>
            </a:r>
          </a:p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1F7A5A"/>
                </a:solidFill>
                <a:latin typeface="맑은 고딕"/>
              </a:rPr>
              <a:t>윤년 비례연차 수식 대조</a:t>
            </a:r>
          </a:p>
          <a:p>
            <a:pPr algn="ctr"/>
            <a:r>
              <a:rPr sz="1550" b="0">
                <a:solidFill>
                  <a:srgbClr val="222B33"/>
                </a:solidFill>
                <a:latin typeface="맑은 고딕"/>
              </a:rPr>
              <a:t>윤년(366일) 일수 반영과
전년도 재직일수 공식이
노동부 행정해석 기준과 부합하는지 검증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44752"/>
            <a:ext cx="3474720" cy="4663440"/>
          </a:xfrm>
          <a:prstGeom prst="roundRect">
            <a:avLst/>
          </a:prstGeom>
          <a:solidFill>
            <a:srgbClr val="EEF6F2"/>
          </a:solidFill>
          <a:ln w="19050">
            <a:solidFill>
              <a:srgbClr val="D5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365760" bIns="274320"/>
          <a:lstStyle/>
          <a:p>
            <a:pPr algn="ctr">
              <a:spcAft>
                <a:spcPts val="1200"/>
              </a:spcAft>
            </a:pPr>
            <a:r>
              <a:rPr sz="4400" b="1">
                <a:solidFill>
                  <a:srgbClr val="F28C28"/>
                </a:solidFill>
                <a:latin typeface="맑은 고딕"/>
              </a:rPr>
              <a:t>02</a:t>
            </a:r>
          </a:p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1F7A5A"/>
                </a:solidFill>
                <a:latin typeface="맑은 고딕"/>
              </a:rPr>
              <a:t>월말 입사자 날짜 보정</a:t>
            </a:r>
          </a:p>
          <a:p>
            <a:pPr algn="ctr"/>
            <a:r>
              <a:rPr sz="1550" b="0">
                <a:solidFill>
                  <a:srgbClr val="222B33"/>
                </a:solidFill>
                <a:latin typeface="맑은 고딕"/>
              </a:rPr>
              <a:t>31일 등 월말 입사자의 경우
익월 말일자 보정(setDate(0))
날짜 연산 함수 로직 직접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82712" y="1444752"/>
            <a:ext cx="3474720" cy="4663440"/>
          </a:xfrm>
          <a:prstGeom prst="roundRect">
            <a:avLst/>
          </a:prstGeom>
          <a:solidFill>
            <a:srgbClr val="EEF6F2"/>
          </a:solidFill>
          <a:ln w="19050">
            <a:solidFill>
              <a:srgbClr val="D5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365760" bIns="274320"/>
          <a:lstStyle/>
          <a:p>
            <a:pPr algn="ctr">
              <a:spcAft>
                <a:spcPts val="1200"/>
              </a:spcAft>
            </a:pPr>
            <a:r>
              <a:rPr sz="4400" b="1">
                <a:solidFill>
                  <a:srgbClr val="F28C28"/>
                </a:solidFill>
                <a:latin typeface="맑은 고딕"/>
              </a:rPr>
              <a:t>03</a:t>
            </a:r>
          </a:p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1F7A5A"/>
                </a:solidFill>
                <a:latin typeface="맑은 고딕"/>
              </a:rPr>
              <a:t>1년 주기 독립 마감</a:t>
            </a:r>
          </a:p>
          <a:p>
            <a:pPr algn="ctr"/>
            <a:r>
              <a:rPr sz="1550" b="0">
                <a:solidFill>
                  <a:srgbClr val="222B33"/>
                </a:solidFill>
                <a:latin typeface="맑은 고딕"/>
              </a:rPr>
              <a:t>12월 31일 소멸 연차가
차기 연도 잔여분으로 잘못 합산되지 않고
독립 마감되는지 분기 로직 점검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241280" y="301752"/>
            <a:ext cx="1234440" cy="438912"/>
          </a:xfrm>
          <a:prstGeom prst="round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연차 신청함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4088" y="347472"/>
            <a:ext cx="9326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7A5A"/>
                </a:solidFill>
                <a:latin typeface="맑은 고딕"/>
              </a:rPr>
              <a:t>5인 연차와 소멸 일정을 즉각 가시화하고 비용을 없앴습니다.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170432"/>
            <a:ext cx="10789920" cy="43891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630936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9999"/>
                </a:solidFill>
                <a:latin typeface="맑은 고딕"/>
              </a:rPr>
              <a:t>연차 신청함 · 수료 발표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444752"/>
            <a:ext cx="3474720" cy="4663440"/>
          </a:xfrm>
          <a:prstGeom prst="roundRect">
            <a:avLst/>
          </a:prstGeom>
          <a:solidFill>
            <a:srgbClr val="EEF6F2"/>
          </a:solidFill>
          <a:ln w="19050">
            <a:solidFill>
              <a:srgbClr val="D5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365760" bIns="274320"/>
          <a:lstStyle/>
          <a:p>
            <a:pPr algn="ctr">
              <a:spcAft>
                <a:spcPts val="1200"/>
              </a:spcAft>
            </a:pPr>
            <a:r>
              <a:rPr sz="4400" b="1">
                <a:solidFill>
                  <a:srgbClr val="F28C28"/>
                </a:solidFill>
                <a:latin typeface="맑은 고딕"/>
              </a:rPr>
              <a:t>가시화</a:t>
            </a:r>
          </a:p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1F7A5A"/>
                </a:solidFill>
                <a:latin typeface="맑은 고딕"/>
              </a:rPr>
              <a:t>연차·소멸 즉각 파악</a:t>
            </a:r>
          </a:p>
          <a:p>
            <a:pPr algn="ctr"/>
            <a:r>
              <a:rPr sz="1550" b="0">
                <a:solidFill>
                  <a:srgbClr val="222B33"/>
                </a:solidFill>
                <a:latin typeface="맑은 고딕"/>
              </a:rPr>
              <a:t>5인 파트너 전원의 잔여 연차와
12월 31일 소멸 D-Day를
한 화면에서 즉시 가시화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44752"/>
            <a:ext cx="3474720" cy="4663440"/>
          </a:xfrm>
          <a:prstGeom prst="roundRect">
            <a:avLst/>
          </a:prstGeom>
          <a:solidFill>
            <a:srgbClr val="EEF6F2"/>
          </a:solidFill>
          <a:ln w="19050">
            <a:solidFill>
              <a:srgbClr val="D5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365760" bIns="274320"/>
          <a:lstStyle/>
          <a:p>
            <a:pPr algn="ctr">
              <a:spcAft>
                <a:spcPts val="1200"/>
              </a:spcAft>
            </a:pPr>
            <a:r>
              <a:rPr sz="5200" b="1">
                <a:solidFill>
                  <a:srgbClr val="F28C28"/>
                </a:solidFill>
                <a:latin typeface="맑은 고딕"/>
              </a:rPr>
              <a:t>0원</a:t>
            </a:r>
          </a:p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1F7A5A"/>
                </a:solidFill>
                <a:latin typeface="맑은 고딕"/>
              </a:rPr>
              <a:t>인프라 비용 제로</a:t>
            </a:r>
          </a:p>
          <a:p>
            <a:pPr algn="ctr"/>
            <a:r>
              <a:rPr sz="1550" b="0">
                <a:solidFill>
                  <a:srgbClr val="222B33"/>
                </a:solidFill>
                <a:latin typeface="맑은 고딕"/>
              </a:rPr>
              <a:t>별도 소프트웨어 설치나 유료 SaaS 없이
단일 HTML과 경량 로컬 서버로
즉시 도입 가능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82712" y="1444752"/>
            <a:ext cx="3474720" cy="4663440"/>
          </a:xfrm>
          <a:prstGeom prst="roundRect">
            <a:avLst/>
          </a:prstGeom>
          <a:solidFill>
            <a:srgbClr val="EEF6F2"/>
          </a:solidFill>
          <a:ln w="19050">
            <a:solidFill>
              <a:srgbClr val="D5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365760" bIns="274320"/>
          <a:lstStyle/>
          <a:p>
            <a:pPr algn="ctr">
              <a:spcAft>
                <a:spcPts val="1200"/>
              </a:spcAft>
            </a:pPr>
            <a:r>
              <a:rPr sz="3800" b="1">
                <a:solidFill>
                  <a:srgbClr val="F28C28"/>
                </a:solidFill>
                <a:latin typeface="맑은 고딕"/>
              </a:rPr>
              <a:t>측정 예정</a:t>
            </a:r>
          </a:p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1F7A5A"/>
                </a:solidFill>
                <a:latin typeface="맑은 고딕"/>
              </a:rPr>
              <a:t>정량적 실무 성과</a:t>
            </a:r>
          </a:p>
          <a:p>
            <a:pPr algn="ctr"/>
            <a:r>
              <a:rPr sz="1550" b="0">
                <a:solidFill>
                  <a:srgbClr val="222B33"/>
                </a:solidFill>
                <a:latin typeface="맑은 고딕"/>
              </a:rPr>
              <a:t>연차 계산 시간 절감률 및
수기 오류 방지 성과:
「(직접 채우기)」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241280" y="301752"/>
            <a:ext cx="1234440" cy="438912"/>
          </a:xfrm>
          <a:prstGeom prst="roundRect">
            <a:avLst/>
          </a:prstGeom>
          <a:solidFill>
            <a:srgbClr val="1F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연차 신청함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4088" y="347472"/>
            <a:ext cx="9326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7A5A"/>
                </a:solidFill>
                <a:latin typeface="맑은 고딕"/>
              </a:rPr>
              <a:t>현장 피드백 수집과 모바일 최적화, 결재선 연동을 추진합니다.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170432"/>
            <a:ext cx="10789920" cy="43891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630936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9999"/>
                </a:solidFill>
                <a:latin typeface="맑은 고딕"/>
              </a:rPr>
              <a:t>연차 신청함 · 수료 발표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444752"/>
            <a:ext cx="3474720" cy="4663440"/>
          </a:xfrm>
          <a:prstGeom prst="roundRect">
            <a:avLst/>
          </a:prstGeom>
          <a:solidFill>
            <a:srgbClr val="EEF6F2"/>
          </a:solidFill>
          <a:ln w="19050">
            <a:solidFill>
              <a:srgbClr val="D5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365760" bIns="274320"/>
          <a:lstStyle/>
          <a:p>
            <a:pPr algn="ctr">
              <a:spcAft>
                <a:spcPts val="1200"/>
              </a:spcAft>
            </a:pPr>
            <a:r>
              <a:rPr sz="4000" b="1">
                <a:solidFill>
                  <a:srgbClr val="F28C28"/>
                </a:solidFill>
                <a:latin typeface="맑은 고딕"/>
              </a:rPr>
              <a:t>STEP 1</a:t>
            </a:r>
          </a:p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1F7A5A"/>
                </a:solidFill>
                <a:latin typeface="맑은 고딕"/>
              </a:rPr>
              <a:t>실무 피드백 수집</a:t>
            </a:r>
          </a:p>
          <a:p>
            <a:pPr algn="ctr"/>
            <a:r>
              <a:rPr sz="1550" b="0">
                <a:solidFill>
                  <a:srgbClr val="222B33"/>
                </a:solidFill>
                <a:latin typeface="맑은 고딕"/>
              </a:rPr>
              <a:t>실제 사내 파트너 피드백 수집 및
사용성 개선: 「(직접 채우기)」
(아직 써 보지 않음)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44752"/>
            <a:ext cx="3474720" cy="4663440"/>
          </a:xfrm>
          <a:prstGeom prst="roundRect">
            <a:avLst/>
          </a:prstGeom>
          <a:solidFill>
            <a:srgbClr val="EEF6F2"/>
          </a:solidFill>
          <a:ln w="19050">
            <a:solidFill>
              <a:srgbClr val="D5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365760" bIns="274320"/>
          <a:lstStyle/>
          <a:p>
            <a:pPr algn="ctr">
              <a:spcAft>
                <a:spcPts val="1200"/>
              </a:spcAft>
            </a:pPr>
            <a:r>
              <a:rPr sz="4000" b="1">
                <a:solidFill>
                  <a:srgbClr val="F28C28"/>
                </a:solidFill>
                <a:latin typeface="맑은 고딕"/>
              </a:rPr>
              <a:t>STEP 2</a:t>
            </a:r>
          </a:p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1F7A5A"/>
                </a:solidFill>
                <a:latin typeface="맑은 고딕"/>
              </a:rPr>
              <a:t>모바일 뷰 최적화</a:t>
            </a:r>
          </a:p>
          <a:p>
            <a:pPr algn="ctr"/>
            <a:r>
              <a:rPr sz="1550" b="0">
                <a:solidFill>
                  <a:srgbClr val="222B33"/>
                </a:solidFill>
                <a:latin typeface="맑은 고딕"/>
              </a:rPr>
              <a:t>스마트폰과 태블릿 환경에서도
5인 탭과 표를 편하게 조회하는
반응형 카드 뷰 UI 고도화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82712" y="1444752"/>
            <a:ext cx="3474720" cy="4663440"/>
          </a:xfrm>
          <a:prstGeom prst="roundRect">
            <a:avLst/>
          </a:prstGeom>
          <a:solidFill>
            <a:srgbClr val="EEF6F2"/>
          </a:solidFill>
          <a:ln w="19050">
            <a:solidFill>
              <a:srgbClr val="D5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365760" bIns="274320"/>
          <a:lstStyle/>
          <a:p>
            <a:pPr algn="ctr">
              <a:spcAft>
                <a:spcPts val="1200"/>
              </a:spcAft>
            </a:pPr>
            <a:r>
              <a:rPr sz="4000" b="1">
                <a:solidFill>
                  <a:srgbClr val="F28C28"/>
                </a:solidFill>
                <a:latin typeface="맑은 고딕"/>
              </a:rPr>
              <a:t>STEP 3</a:t>
            </a:r>
          </a:p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1F7A5A"/>
                </a:solidFill>
                <a:latin typeface="맑은 고딕"/>
              </a:rPr>
              <a:t>결재선 &amp; 내보내기</a:t>
            </a:r>
          </a:p>
          <a:p>
            <a:pPr algn="ctr"/>
            <a:r>
              <a:rPr sz="1550" b="0">
                <a:solidFill>
                  <a:srgbClr val="222B33"/>
                </a:solidFill>
                <a:latin typeface="맑은 고딕"/>
              </a:rPr>
              <a:t>연차 신청·승인·반려 결재선 연동 및
연차 내역 엑셀(CSV) 다운로드:
「(할 예정)」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